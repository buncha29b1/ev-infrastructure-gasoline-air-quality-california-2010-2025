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51206400" cy="32918400"/>
  <p:notesSz cx="6858000" cy="9144000"/>
  <p:defaultTextStyle>
    <a:defPPr>
      <a:defRPr lang="en-US"/>
    </a:defPPr>
    <a:lvl1pPr marL="0" algn="l" defTabSz="2403546" rtl="0" eaLnBrk="1" latinLnBrk="0" hangingPunct="1">
      <a:defRPr sz="9500" kern="1200">
        <a:solidFill>
          <a:schemeClr val="tx1"/>
        </a:solidFill>
        <a:latin typeface="+mn-lt"/>
        <a:ea typeface="+mn-ea"/>
        <a:cs typeface="+mn-cs"/>
      </a:defRPr>
    </a:lvl1pPr>
    <a:lvl2pPr marL="2403546" algn="l" defTabSz="2403546" rtl="0" eaLnBrk="1" latinLnBrk="0" hangingPunct="1">
      <a:defRPr sz="9500" kern="1200">
        <a:solidFill>
          <a:schemeClr val="tx1"/>
        </a:solidFill>
        <a:latin typeface="+mn-lt"/>
        <a:ea typeface="+mn-ea"/>
        <a:cs typeface="+mn-cs"/>
      </a:defRPr>
    </a:lvl2pPr>
    <a:lvl3pPr marL="4807092" algn="l" defTabSz="2403546" rtl="0" eaLnBrk="1" latinLnBrk="0" hangingPunct="1">
      <a:defRPr sz="9500" kern="1200">
        <a:solidFill>
          <a:schemeClr val="tx1"/>
        </a:solidFill>
        <a:latin typeface="+mn-lt"/>
        <a:ea typeface="+mn-ea"/>
        <a:cs typeface="+mn-cs"/>
      </a:defRPr>
    </a:lvl3pPr>
    <a:lvl4pPr marL="7210638" algn="l" defTabSz="2403546" rtl="0" eaLnBrk="1" latinLnBrk="0" hangingPunct="1">
      <a:defRPr sz="9500" kern="1200">
        <a:solidFill>
          <a:schemeClr val="tx1"/>
        </a:solidFill>
        <a:latin typeface="+mn-lt"/>
        <a:ea typeface="+mn-ea"/>
        <a:cs typeface="+mn-cs"/>
      </a:defRPr>
    </a:lvl4pPr>
    <a:lvl5pPr marL="9614184" algn="l" defTabSz="2403546" rtl="0" eaLnBrk="1" latinLnBrk="0" hangingPunct="1">
      <a:defRPr sz="9500" kern="1200">
        <a:solidFill>
          <a:schemeClr val="tx1"/>
        </a:solidFill>
        <a:latin typeface="+mn-lt"/>
        <a:ea typeface="+mn-ea"/>
        <a:cs typeface="+mn-cs"/>
      </a:defRPr>
    </a:lvl5pPr>
    <a:lvl6pPr marL="12017731" algn="l" defTabSz="2403546" rtl="0" eaLnBrk="1" latinLnBrk="0" hangingPunct="1">
      <a:defRPr sz="9500" kern="1200">
        <a:solidFill>
          <a:schemeClr val="tx1"/>
        </a:solidFill>
        <a:latin typeface="+mn-lt"/>
        <a:ea typeface="+mn-ea"/>
        <a:cs typeface="+mn-cs"/>
      </a:defRPr>
    </a:lvl6pPr>
    <a:lvl7pPr marL="14421277" algn="l" defTabSz="2403546" rtl="0" eaLnBrk="1" latinLnBrk="0" hangingPunct="1">
      <a:defRPr sz="9500" kern="1200">
        <a:solidFill>
          <a:schemeClr val="tx1"/>
        </a:solidFill>
        <a:latin typeface="+mn-lt"/>
        <a:ea typeface="+mn-ea"/>
        <a:cs typeface="+mn-cs"/>
      </a:defRPr>
    </a:lvl7pPr>
    <a:lvl8pPr marL="16824823" algn="l" defTabSz="2403546" rtl="0" eaLnBrk="1" latinLnBrk="0" hangingPunct="1">
      <a:defRPr sz="9500" kern="1200">
        <a:solidFill>
          <a:schemeClr val="tx1"/>
        </a:solidFill>
        <a:latin typeface="+mn-lt"/>
        <a:ea typeface="+mn-ea"/>
        <a:cs typeface="+mn-cs"/>
      </a:defRPr>
    </a:lvl8pPr>
    <a:lvl9pPr marL="19228369" algn="l" defTabSz="2403546" rtl="0" eaLnBrk="1" latinLnBrk="0" hangingPunct="1">
      <a:defRPr sz="9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61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09"/>
  </p:normalViewPr>
  <p:slideViewPr>
    <p:cSldViewPr snapToGrid="0" snapToObjects="1">
      <p:cViewPr>
        <p:scale>
          <a:sx n="33" d="100"/>
          <a:sy n="33" d="100"/>
        </p:scale>
        <p:origin x="-426" y="174"/>
      </p:cViewPr>
      <p:guideLst>
        <p:guide orient="horz" pos="10368"/>
        <p:guide pos="161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10226042"/>
            <a:ext cx="4352544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80960" y="18653760"/>
            <a:ext cx="3584448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03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8070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210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614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0177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4212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824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228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953" y="21153122"/>
            <a:ext cx="43525440" cy="6537960"/>
          </a:xfrm>
        </p:spPr>
        <p:txBody>
          <a:bodyPr anchor="t"/>
          <a:lstStyle>
            <a:lvl1pPr algn="l">
              <a:defRPr sz="21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53" y="13952225"/>
            <a:ext cx="43525440" cy="7200898"/>
          </a:xfrm>
        </p:spPr>
        <p:txBody>
          <a:bodyPr anchor="b"/>
          <a:lstStyle>
            <a:lvl1pPr marL="0" indent="0">
              <a:buNone/>
              <a:defRPr sz="10500">
                <a:solidFill>
                  <a:schemeClr val="tx1">
                    <a:tint val="75000"/>
                  </a:schemeClr>
                </a:solidFill>
              </a:defRPr>
            </a:lvl1pPr>
            <a:lvl2pPr marL="2403546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2pPr>
            <a:lvl3pPr marL="4807092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3pPr>
            <a:lvl4pPr marL="7210638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4pPr>
            <a:lvl5pPr marL="9614184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5pPr>
            <a:lvl6pPr marL="12017731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6pPr>
            <a:lvl7pPr marL="14421277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7pPr>
            <a:lvl8pPr marL="16824823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8pPr>
            <a:lvl9pPr marL="19228369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0320" y="7680963"/>
            <a:ext cx="22616160" cy="21724622"/>
          </a:xfrm>
        </p:spPr>
        <p:txBody>
          <a:bodyPr/>
          <a:lstStyle>
            <a:lvl1pPr>
              <a:defRPr sz="14700"/>
            </a:lvl1pPr>
            <a:lvl2pPr>
              <a:defRPr sz="12600"/>
            </a:lvl2pPr>
            <a:lvl3pPr>
              <a:defRPr sz="105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29920" y="7680963"/>
            <a:ext cx="22616160" cy="21724622"/>
          </a:xfrm>
        </p:spPr>
        <p:txBody>
          <a:bodyPr/>
          <a:lstStyle>
            <a:lvl1pPr>
              <a:defRPr sz="14700"/>
            </a:lvl1pPr>
            <a:lvl2pPr>
              <a:defRPr sz="12600"/>
            </a:lvl2pPr>
            <a:lvl3pPr>
              <a:defRPr sz="105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0" y="7368542"/>
            <a:ext cx="22625053" cy="3070858"/>
          </a:xfrm>
        </p:spPr>
        <p:txBody>
          <a:bodyPr anchor="b"/>
          <a:lstStyle>
            <a:lvl1pPr marL="0" indent="0">
              <a:buNone/>
              <a:defRPr sz="12600" b="1"/>
            </a:lvl1pPr>
            <a:lvl2pPr marL="2403546" indent="0">
              <a:buNone/>
              <a:defRPr sz="10500" b="1"/>
            </a:lvl2pPr>
            <a:lvl3pPr marL="4807092" indent="0">
              <a:buNone/>
              <a:defRPr sz="9500" b="1"/>
            </a:lvl3pPr>
            <a:lvl4pPr marL="7210638" indent="0">
              <a:buNone/>
              <a:defRPr sz="8400" b="1"/>
            </a:lvl4pPr>
            <a:lvl5pPr marL="9614184" indent="0">
              <a:buNone/>
              <a:defRPr sz="8400" b="1"/>
            </a:lvl5pPr>
            <a:lvl6pPr marL="12017731" indent="0">
              <a:buNone/>
              <a:defRPr sz="8400" b="1"/>
            </a:lvl6pPr>
            <a:lvl7pPr marL="14421277" indent="0">
              <a:buNone/>
              <a:defRPr sz="8400" b="1"/>
            </a:lvl7pPr>
            <a:lvl8pPr marL="16824823" indent="0">
              <a:buNone/>
              <a:defRPr sz="8400" b="1"/>
            </a:lvl8pPr>
            <a:lvl9pPr marL="19228369" indent="0">
              <a:buNone/>
              <a:defRPr sz="8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0" y="10439400"/>
            <a:ext cx="22625053" cy="18966182"/>
          </a:xfrm>
        </p:spPr>
        <p:txBody>
          <a:bodyPr/>
          <a:lstStyle>
            <a:lvl1pPr>
              <a:defRPr sz="12600"/>
            </a:lvl1pPr>
            <a:lvl2pPr>
              <a:defRPr sz="10500"/>
            </a:lvl2pPr>
            <a:lvl3pPr>
              <a:defRPr sz="950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12143" y="7368542"/>
            <a:ext cx="22633940" cy="3070858"/>
          </a:xfrm>
        </p:spPr>
        <p:txBody>
          <a:bodyPr anchor="b"/>
          <a:lstStyle>
            <a:lvl1pPr marL="0" indent="0">
              <a:buNone/>
              <a:defRPr sz="12600" b="1"/>
            </a:lvl1pPr>
            <a:lvl2pPr marL="2403546" indent="0">
              <a:buNone/>
              <a:defRPr sz="10500" b="1"/>
            </a:lvl2pPr>
            <a:lvl3pPr marL="4807092" indent="0">
              <a:buNone/>
              <a:defRPr sz="9500" b="1"/>
            </a:lvl3pPr>
            <a:lvl4pPr marL="7210638" indent="0">
              <a:buNone/>
              <a:defRPr sz="8400" b="1"/>
            </a:lvl4pPr>
            <a:lvl5pPr marL="9614184" indent="0">
              <a:buNone/>
              <a:defRPr sz="8400" b="1"/>
            </a:lvl5pPr>
            <a:lvl6pPr marL="12017731" indent="0">
              <a:buNone/>
              <a:defRPr sz="8400" b="1"/>
            </a:lvl6pPr>
            <a:lvl7pPr marL="14421277" indent="0">
              <a:buNone/>
              <a:defRPr sz="8400" b="1"/>
            </a:lvl7pPr>
            <a:lvl8pPr marL="16824823" indent="0">
              <a:buNone/>
              <a:defRPr sz="8400" b="1"/>
            </a:lvl8pPr>
            <a:lvl9pPr marL="19228369" indent="0">
              <a:buNone/>
              <a:defRPr sz="8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12143" y="10439400"/>
            <a:ext cx="22633940" cy="18966182"/>
          </a:xfrm>
        </p:spPr>
        <p:txBody>
          <a:bodyPr/>
          <a:lstStyle>
            <a:lvl1pPr>
              <a:defRPr sz="12600"/>
            </a:lvl1pPr>
            <a:lvl2pPr>
              <a:defRPr sz="10500"/>
            </a:lvl2pPr>
            <a:lvl3pPr>
              <a:defRPr sz="950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3" y="1310640"/>
            <a:ext cx="16846553" cy="5577840"/>
          </a:xfrm>
        </p:spPr>
        <p:txBody>
          <a:bodyPr anchor="b"/>
          <a:lstStyle>
            <a:lvl1pPr algn="l">
              <a:defRPr sz="10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20280" y="1310643"/>
            <a:ext cx="28625800" cy="28094942"/>
          </a:xfrm>
        </p:spPr>
        <p:txBody>
          <a:bodyPr/>
          <a:lstStyle>
            <a:lvl1pPr>
              <a:defRPr sz="16800"/>
            </a:lvl1pPr>
            <a:lvl2pPr>
              <a:defRPr sz="14700"/>
            </a:lvl2pPr>
            <a:lvl3pPr>
              <a:defRPr sz="12600"/>
            </a:lvl3pPr>
            <a:lvl4pPr>
              <a:defRPr sz="10500"/>
            </a:lvl4pPr>
            <a:lvl5pPr>
              <a:defRPr sz="10500"/>
            </a:lvl5pPr>
            <a:lvl6pPr>
              <a:defRPr sz="10500"/>
            </a:lvl6pPr>
            <a:lvl7pPr>
              <a:defRPr sz="10500"/>
            </a:lvl7pPr>
            <a:lvl8pPr>
              <a:defRPr sz="10500"/>
            </a:lvl8pPr>
            <a:lvl9pPr>
              <a:defRPr sz="10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3" y="6888483"/>
            <a:ext cx="16846553" cy="22517102"/>
          </a:xfrm>
        </p:spPr>
        <p:txBody>
          <a:bodyPr/>
          <a:lstStyle>
            <a:lvl1pPr marL="0" indent="0">
              <a:buNone/>
              <a:defRPr sz="7400"/>
            </a:lvl1pPr>
            <a:lvl2pPr marL="2403546" indent="0">
              <a:buNone/>
              <a:defRPr sz="6300"/>
            </a:lvl2pPr>
            <a:lvl3pPr marL="4807092" indent="0">
              <a:buNone/>
              <a:defRPr sz="5300"/>
            </a:lvl3pPr>
            <a:lvl4pPr marL="7210638" indent="0">
              <a:buNone/>
              <a:defRPr sz="4700"/>
            </a:lvl4pPr>
            <a:lvl5pPr marL="9614184" indent="0">
              <a:buNone/>
              <a:defRPr sz="4700"/>
            </a:lvl5pPr>
            <a:lvl6pPr marL="12017731" indent="0">
              <a:buNone/>
              <a:defRPr sz="4700"/>
            </a:lvl6pPr>
            <a:lvl7pPr marL="14421277" indent="0">
              <a:buNone/>
              <a:defRPr sz="4700"/>
            </a:lvl7pPr>
            <a:lvl8pPr marL="16824823" indent="0">
              <a:buNone/>
              <a:defRPr sz="4700"/>
            </a:lvl8pPr>
            <a:lvl9pPr marL="19228369" indent="0">
              <a:buNone/>
              <a:defRPr sz="4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6813" y="23042880"/>
            <a:ext cx="30723840" cy="2720342"/>
          </a:xfrm>
        </p:spPr>
        <p:txBody>
          <a:bodyPr anchor="b"/>
          <a:lstStyle>
            <a:lvl1pPr algn="l">
              <a:defRPr sz="10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36813" y="2941320"/>
            <a:ext cx="30723840" cy="19751040"/>
          </a:xfrm>
        </p:spPr>
        <p:txBody>
          <a:bodyPr/>
          <a:lstStyle>
            <a:lvl1pPr marL="0" indent="0">
              <a:buNone/>
              <a:defRPr sz="16800"/>
            </a:lvl1pPr>
            <a:lvl2pPr marL="2403546" indent="0">
              <a:buNone/>
              <a:defRPr sz="14700"/>
            </a:lvl2pPr>
            <a:lvl3pPr marL="4807092" indent="0">
              <a:buNone/>
              <a:defRPr sz="12600"/>
            </a:lvl3pPr>
            <a:lvl4pPr marL="7210638" indent="0">
              <a:buNone/>
              <a:defRPr sz="10500"/>
            </a:lvl4pPr>
            <a:lvl5pPr marL="9614184" indent="0">
              <a:buNone/>
              <a:defRPr sz="10500"/>
            </a:lvl5pPr>
            <a:lvl6pPr marL="12017731" indent="0">
              <a:buNone/>
              <a:defRPr sz="10500"/>
            </a:lvl6pPr>
            <a:lvl7pPr marL="14421277" indent="0">
              <a:buNone/>
              <a:defRPr sz="10500"/>
            </a:lvl7pPr>
            <a:lvl8pPr marL="16824823" indent="0">
              <a:buNone/>
              <a:defRPr sz="10500"/>
            </a:lvl8pPr>
            <a:lvl9pPr marL="19228369" indent="0">
              <a:buNone/>
              <a:defRPr sz="10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36813" y="25763222"/>
            <a:ext cx="30723840" cy="3863338"/>
          </a:xfrm>
        </p:spPr>
        <p:txBody>
          <a:bodyPr/>
          <a:lstStyle>
            <a:lvl1pPr marL="0" indent="0">
              <a:buNone/>
              <a:defRPr sz="7400"/>
            </a:lvl1pPr>
            <a:lvl2pPr marL="2403546" indent="0">
              <a:buNone/>
              <a:defRPr sz="6300"/>
            </a:lvl2pPr>
            <a:lvl3pPr marL="4807092" indent="0">
              <a:buNone/>
              <a:defRPr sz="5300"/>
            </a:lvl3pPr>
            <a:lvl4pPr marL="7210638" indent="0">
              <a:buNone/>
              <a:defRPr sz="4700"/>
            </a:lvl4pPr>
            <a:lvl5pPr marL="9614184" indent="0">
              <a:buNone/>
              <a:defRPr sz="4700"/>
            </a:lvl5pPr>
            <a:lvl6pPr marL="12017731" indent="0">
              <a:buNone/>
              <a:defRPr sz="4700"/>
            </a:lvl6pPr>
            <a:lvl7pPr marL="14421277" indent="0">
              <a:buNone/>
              <a:defRPr sz="4700"/>
            </a:lvl7pPr>
            <a:lvl8pPr marL="16824823" indent="0">
              <a:buNone/>
              <a:defRPr sz="4700"/>
            </a:lvl8pPr>
            <a:lvl9pPr marL="19228369" indent="0">
              <a:buNone/>
              <a:defRPr sz="4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124640" y="1318265"/>
            <a:ext cx="11521440" cy="28087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60320" y="1318265"/>
            <a:ext cx="33710880" cy="28087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0320" y="1318262"/>
            <a:ext cx="46085760" cy="5486400"/>
          </a:xfrm>
          <a:prstGeom prst="rect">
            <a:avLst/>
          </a:prstGeom>
        </p:spPr>
        <p:txBody>
          <a:bodyPr vert="horz" lIns="480709" tIns="240355" rIns="480709" bIns="24035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0" y="7680963"/>
            <a:ext cx="46085760" cy="21724622"/>
          </a:xfrm>
          <a:prstGeom prst="rect">
            <a:avLst/>
          </a:prstGeom>
        </p:spPr>
        <p:txBody>
          <a:bodyPr vert="horz" lIns="480709" tIns="240355" rIns="480709" bIns="24035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0" y="30510482"/>
            <a:ext cx="11948160" cy="1752600"/>
          </a:xfrm>
          <a:prstGeom prst="rect">
            <a:avLst/>
          </a:prstGeom>
        </p:spPr>
        <p:txBody>
          <a:bodyPr vert="horz" lIns="480709" tIns="240355" rIns="480709" bIns="240355" rtlCol="0" anchor="ctr"/>
          <a:lstStyle>
            <a:lvl1pPr algn="l">
              <a:defRPr sz="6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250D1-D96A-1849-87B9-1AABDD2E461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95520" y="30510482"/>
            <a:ext cx="16215360" cy="1752600"/>
          </a:xfrm>
          <a:prstGeom prst="rect">
            <a:avLst/>
          </a:prstGeom>
        </p:spPr>
        <p:txBody>
          <a:bodyPr vert="horz" lIns="480709" tIns="240355" rIns="480709" bIns="240355" rtlCol="0" anchor="ctr"/>
          <a:lstStyle>
            <a:lvl1pPr algn="ctr">
              <a:defRPr sz="6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97920" y="30510482"/>
            <a:ext cx="11948160" cy="1752600"/>
          </a:xfrm>
          <a:prstGeom prst="rect">
            <a:avLst/>
          </a:prstGeom>
        </p:spPr>
        <p:txBody>
          <a:bodyPr vert="horz" lIns="480709" tIns="240355" rIns="480709" bIns="240355" rtlCol="0" anchor="ctr"/>
          <a:lstStyle>
            <a:lvl1pPr algn="r">
              <a:defRPr sz="6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FE063-3AAD-C14A-807D-DB893C2A91A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403546" rtl="0" eaLnBrk="1" latinLnBrk="0" hangingPunct="1">
        <a:spcBef>
          <a:spcPct val="0"/>
        </a:spcBef>
        <a:buNone/>
        <a:defRPr sz="23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2660" indent="-1802660" algn="l" defTabSz="2403546" rtl="0" eaLnBrk="1" latinLnBrk="0" hangingPunct="1">
        <a:spcBef>
          <a:spcPct val="20000"/>
        </a:spcBef>
        <a:buFont typeface="Arial"/>
        <a:buChar char="•"/>
        <a:defRPr sz="16800" kern="1200">
          <a:solidFill>
            <a:schemeClr val="tx1"/>
          </a:solidFill>
          <a:latin typeface="+mn-lt"/>
          <a:ea typeface="+mn-ea"/>
          <a:cs typeface="+mn-cs"/>
        </a:defRPr>
      </a:lvl1pPr>
      <a:lvl2pPr marL="3905762" indent="-1502216" algn="l" defTabSz="2403546" rtl="0" eaLnBrk="1" latinLnBrk="0" hangingPunct="1">
        <a:spcBef>
          <a:spcPct val="20000"/>
        </a:spcBef>
        <a:buFont typeface="Arial"/>
        <a:buChar char="–"/>
        <a:defRPr sz="14700" kern="1200">
          <a:solidFill>
            <a:schemeClr val="tx1"/>
          </a:solidFill>
          <a:latin typeface="+mn-lt"/>
          <a:ea typeface="+mn-ea"/>
          <a:cs typeface="+mn-cs"/>
        </a:defRPr>
      </a:lvl2pPr>
      <a:lvl3pPr marL="6008865" indent="-1201773" algn="l" defTabSz="2403546" rtl="0" eaLnBrk="1" latinLnBrk="0" hangingPunct="1">
        <a:spcBef>
          <a:spcPct val="20000"/>
        </a:spcBef>
        <a:buFont typeface="Arial"/>
        <a:buChar char="•"/>
        <a:defRPr sz="12600" kern="1200">
          <a:solidFill>
            <a:schemeClr val="tx1"/>
          </a:solidFill>
          <a:latin typeface="+mn-lt"/>
          <a:ea typeface="+mn-ea"/>
          <a:cs typeface="+mn-cs"/>
        </a:defRPr>
      </a:lvl3pPr>
      <a:lvl4pPr marL="8412411" indent="-1201773" algn="l" defTabSz="2403546" rtl="0" eaLnBrk="1" latinLnBrk="0" hangingPunct="1">
        <a:spcBef>
          <a:spcPct val="20000"/>
        </a:spcBef>
        <a:buFont typeface="Arial"/>
        <a:buChar char="–"/>
        <a:defRPr sz="10500" kern="1200">
          <a:solidFill>
            <a:schemeClr val="tx1"/>
          </a:solidFill>
          <a:latin typeface="+mn-lt"/>
          <a:ea typeface="+mn-ea"/>
          <a:cs typeface="+mn-cs"/>
        </a:defRPr>
      </a:lvl4pPr>
      <a:lvl5pPr marL="10815958" indent="-1201773" algn="l" defTabSz="2403546" rtl="0" eaLnBrk="1" latinLnBrk="0" hangingPunct="1">
        <a:spcBef>
          <a:spcPct val="20000"/>
        </a:spcBef>
        <a:buFont typeface="Arial"/>
        <a:buChar char="»"/>
        <a:defRPr sz="10500" kern="1200">
          <a:solidFill>
            <a:schemeClr val="tx1"/>
          </a:solidFill>
          <a:latin typeface="+mn-lt"/>
          <a:ea typeface="+mn-ea"/>
          <a:cs typeface="+mn-cs"/>
        </a:defRPr>
      </a:lvl5pPr>
      <a:lvl6pPr marL="13219504" indent="-1201773" algn="l" defTabSz="2403546" rtl="0" eaLnBrk="1" latinLnBrk="0" hangingPunct="1">
        <a:spcBef>
          <a:spcPct val="20000"/>
        </a:spcBef>
        <a:buFont typeface="Arial"/>
        <a:buChar char="•"/>
        <a:defRPr sz="10500" kern="1200">
          <a:solidFill>
            <a:schemeClr val="tx1"/>
          </a:solidFill>
          <a:latin typeface="+mn-lt"/>
          <a:ea typeface="+mn-ea"/>
          <a:cs typeface="+mn-cs"/>
        </a:defRPr>
      </a:lvl6pPr>
      <a:lvl7pPr marL="15623050" indent="-1201773" algn="l" defTabSz="2403546" rtl="0" eaLnBrk="1" latinLnBrk="0" hangingPunct="1">
        <a:spcBef>
          <a:spcPct val="20000"/>
        </a:spcBef>
        <a:buFont typeface="Arial"/>
        <a:buChar char="•"/>
        <a:defRPr sz="10500" kern="1200">
          <a:solidFill>
            <a:schemeClr val="tx1"/>
          </a:solidFill>
          <a:latin typeface="+mn-lt"/>
          <a:ea typeface="+mn-ea"/>
          <a:cs typeface="+mn-cs"/>
        </a:defRPr>
      </a:lvl7pPr>
      <a:lvl8pPr marL="18026596" indent="-1201773" algn="l" defTabSz="2403546" rtl="0" eaLnBrk="1" latinLnBrk="0" hangingPunct="1">
        <a:spcBef>
          <a:spcPct val="20000"/>
        </a:spcBef>
        <a:buFont typeface="Arial"/>
        <a:buChar char="•"/>
        <a:defRPr sz="10500" kern="1200">
          <a:solidFill>
            <a:schemeClr val="tx1"/>
          </a:solidFill>
          <a:latin typeface="+mn-lt"/>
          <a:ea typeface="+mn-ea"/>
          <a:cs typeface="+mn-cs"/>
        </a:defRPr>
      </a:lvl8pPr>
      <a:lvl9pPr marL="20430142" indent="-1201773" algn="l" defTabSz="2403546" rtl="0" eaLnBrk="1" latinLnBrk="0" hangingPunct="1">
        <a:spcBef>
          <a:spcPct val="20000"/>
        </a:spcBef>
        <a:buFont typeface="Arial"/>
        <a:buChar char="•"/>
        <a:defRPr sz="10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3546" rtl="0" eaLnBrk="1" latinLnBrk="0" hangingPunct="1">
        <a:defRPr sz="9500" kern="1200">
          <a:solidFill>
            <a:schemeClr val="tx1"/>
          </a:solidFill>
          <a:latin typeface="+mn-lt"/>
          <a:ea typeface="+mn-ea"/>
          <a:cs typeface="+mn-cs"/>
        </a:defRPr>
      </a:lvl1pPr>
      <a:lvl2pPr marL="2403546" algn="l" defTabSz="2403546" rtl="0" eaLnBrk="1" latinLnBrk="0" hangingPunct="1">
        <a:defRPr sz="9500" kern="1200">
          <a:solidFill>
            <a:schemeClr val="tx1"/>
          </a:solidFill>
          <a:latin typeface="+mn-lt"/>
          <a:ea typeface="+mn-ea"/>
          <a:cs typeface="+mn-cs"/>
        </a:defRPr>
      </a:lvl2pPr>
      <a:lvl3pPr marL="4807092" algn="l" defTabSz="2403546" rtl="0" eaLnBrk="1" latinLnBrk="0" hangingPunct="1">
        <a:defRPr sz="9500" kern="1200">
          <a:solidFill>
            <a:schemeClr val="tx1"/>
          </a:solidFill>
          <a:latin typeface="+mn-lt"/>
          <a:ea typeface="+mn-ea"/>
          <a:cs typeface="+mn-cs"/>
        </a:defRPr>
      </a:lvl3pPr>
      <a:lvl4pPr marL="7210638" algn="l" defTabSz="2403546" rtl="0" eaLnBrk="1" latinLnBrk="0" hangingPunct="1"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614184" algn="l" defTabSz="2403546" rtl="0" eaLnBrk="1" latinLnBrk="0" hangingPunct="1"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2017731" algn="l" defTabSz="2403546" rtl="0" eaLnBrk="1" latinLnBrk="0" hangingPunct="1"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421277" algn="l" defTabSz="2403546" rtl="0" eaLnBrk="1" latinLnBrk="0" hangingPunct="1"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824823" algn="l" defTabSz="2403546" rtl="0" eaLnBrk="1" latinLnBrk="0" hangingPunct="1"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9228369" algn="l" defTabSz="2403546" rtl="0" eaLnBrk="1" latinLnBrk="0" hangingPunct="1"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65795" y="596772"/>
            <a:ext cx="49226230" cy="4801314"/>
          </a:xfrm>
          <a:prstGeom prst="rect">
            <a:avLst/>
          </a:prstGeom>
          <a:noFill/>
          <a:ln w="127000" cmpd="sng">
            <a:solidFill>
              <a:schemeClr val="accent4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Charging the Corridors: A Distance-Weighted Difference-in-Differences Analysis of NEVI Interstate Fast Charging Deployment, Gasoline Consumption, and Air Quality across California Counties</a:t>
            </a:r>
          </a:p>
          <a:p>
            <a:pPr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Khoi Van</a:t>
            </a:r>
          </a:p>
          <a:p>
            <a:pPr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Department: Economics</a:t>
            </a:r>
          </a:p>
          <a:p>
            <a:pPr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Research Advisor: Dr. John Conzelmann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5795" y="6094263"/>
            <a:ext cx="8773555" cy="11757065"/>
          </a:xfrm>
          <a:prstGeom prst="rect">
            <a:avLst/>
          </a:prstGeom>
          <a:noFill/>
          <a:ln w="127000" cmpd="sng">
            <a:solidFill>
              <a:srgbClr val="7030A0"/>
            </a:solidFill>
          </a:ln>
        </p:spPr>
        <p:txBody>
          <a:bodyPr wrap="square" lIns="274320" tIns="274320" rIns="274320" bIns="274320" rtlCol="0">
            <a:spAutoFit/>
          </a:bodyPr>
          <a:lstStyle/>
          <a:p>
            <a:pPr algn="ctr"/>
            <a:r>
              <a:rPr lang="en-US" sz="4400" dirty="0">
                <a:latin typeface="Arial"/>
                <a:cs typeface="Arial"/>
              </a:rPr>
              <a:t>Introduction</a:t>
            </a:r>
          </a:p>
          <a:p>
            <a:endParaRPr lang="en-US" sz="4400" dirty="0">
              <a:latin typeface="Arial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By 2023 California recorded ~1.26 million light-duty EV registrations and by late 2025 surpassed 200,000 public chargers, yet </a:t>
            </a:r>
            <a:r>
              <a:rPr lang="en-US" sz="3200" b="1" dirty="0">
                <a:latin typeface="Times New Roman"/>
                <a:cs typeface="Times New Roman"/>
              </a:rPr>
              <a:t>gasoline use has not fallen proportionally</a:t>
            </a:r>
            <a:r>
              <a:rPr lang="en-US" sz="3200" dirty="0">
                <a:latin typeface="Times New Roman"/>
                <a:cs typeface="Times New Roman"/>
              </a:rPr>
              <a:t> and transportation remains the state’s largest source of greenhouse gas emissions.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The 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2022 </a:t>
            </a: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National Electric Vehicle Infrastructure (NEVI) Formula Program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directs federal funds to build DC fast-charging along designated Interstate Alternative-Fuel Corridors </a:t>
            </a: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before any other spending</a:t>
            </a:r>
            <a:r>
              <a:rPr lang="en-US" sz="320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Because corridor placement is fixed by the 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federal interstate network and </a:t>
            </a: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state-administered rather than chosen by counties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, it offers a plausibly exogenous shock.</a:t>
            </a:r>
            <a:endParaRPr lang="en-US" sz="3200" dirty="0">
              <a:latin typeface="Times New Roman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/>
                <a:cs typeface="Times New Roman"/>
              </a:rPr>
              <a:t>Research question: 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did the NEVI corridor build-out reduce per-capita gasoline consumption and improve local air quality in the counties it crosses, relative to comparable off-corridor counties?</a:t>
            </a:r>
            <a:endParaRPr lang="en-US" sz="3200" b="1" dirty="0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719499" y="16091597"/>
            <a:ext cx="8772526" cy="4185761"/>
          </a:xfrm>
          <a:prstGeom prst="rect">
            <a:avLst/>
          </a:prstGeom>
          <a:noFill/>
          <a:ln w="1270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274320" tIns="274320" rIns="274320" bIns="274320" rtlCol="0">
            <a:spAutoFit/>
          </a:bodyPr>
          <a:lstStyle/>
          <a:p>
            <a:pPr algn="ctr"/>
            <a:r>
              <a:rPr lang="en-US" sz="4400" dirty="0">
                <a:latin typeface="Arial"/>
                <a:cs typeface="Arial"/>
              </a:rPr>
              <a:t>Acknowledgements</a:t>
            </a:r>
          </a:p>
          <a:p>
            <a:pPr algn="ctr"/>
            <a:endParaRPr lang="en-US" sz="3200" dirty="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/>
                <a:cs typeface="Times New Roman"/>
              </a:rPr>
              <a:t>The </a:t>
            </a:r>
            <a:r>
              <a:rPr lang="en-US" sz="3200" dirty="0" err="1">
                <a:latin typeface="Times New Roman"/>
                <a:cs typeface="Times New Roman"/>
              </a:rPr>
              <a:t>Lisska</a:t>
            </a:r>
            <a:r>
              <a:rPr lang="en-US" sz="3200" dirty="0">
                <a:latin typeface="Times New Roman"/>
                <a:cs typeface="Times New Roman"/>
              </a:rPr>
              <a:t> Center for Intellectual Engagement, Denison University.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/>
                <a:cs typeface="Times New Roman"/>
              </a:rPr>
              <a:t>Department of Economics, Denison University.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/>
                <a:cs typeface="Times New Roman"/>
              </a:rPr>
              <a:t>Dr. John Conzelmann, Department of Economics, Denison University.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19498" y="20767540"/>
            <a:ext cx="8772526" cy="10069808"/>
          </a:xfrm>
          <a:prstGeom prst="rect">
            <a:avLst/>
          </a:prstGeom>
          <a:noFill/>
          <a:ln w="127000" cmpd="sng">
            <a:solidFill>
              <a:srgbClr val="7030A0"/>
            </a:solidFill>
          </a:ln>
        </p:spPr>
        <p:txBody>
          <a:bodyPr wrap="square" lIns="274320" tIns="274320" rIns="274320" bIns="274320" rtlCol="0">
            <a:spAutoFit/>
          </a:bodyPr>
          <a:lstStyle/>
          <a:p>
            <a:pPr algn="ctr"/>
            <a:r>
              <a:rPr lang="en-US" sz="4400" dirty="0">
                <a:latin typeface="Arial"/>
                <a:cs typeface="Arial"/>
              </a:rPr>
              <a:t>References</a:t>
            </a:r>
          </a:p>
          <a:p>
            <a:pPr algn="ctr"/>
            <a:endParaRPr lang="en-US" sz="2400" dirty="0">
              <a:latin typeface="Arial"/>
              <a:cs typeface="Arial"/>
            </a:endParaRP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lang="en-US" sz="3200" dirty="0">
                <a:solidFill>
                  <a:srgbClr val="1A1A1A"/>
                </a:solidFill>
                <a:latin typeface="Times New Roman"/>
              </a:rPr>
              <a:t>•  Callaway, B., &amp; Sant'Anna, P. H. C. (2021). Difference-in-differences with multiple time periods. Journal of Econometrics, 225(2), 200–230.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lang="en-US" sz="3200" dirty="0">
                <a:solidFill>
                  <a:srgbClr val="1A1A1A"/>
                </a:solidFill>
                <a:latin typeface="Times New Roman"/>
              </a:rPr>
              <a:t>•  Callaway, B., Goodman-Bacon, A., &amp; Sant'Anna, P. H. C. (2024). Difference-in-differences with a continuous treatment.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lang="en-US" sz="3200" dirty="0">
                <a:solidFill>
                  <a:srgbClr val="1A1A1A"/>
                </a:solidFill>
                <a:latin typeface="Times New Roman"/>
              </a:rPr>
              <a:t>•  Federal Highway Administration. (2023). National Electric Vehicle Infrastructure Formula Program Final Rule (23 CFR Part 680).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lang="en-US" sz="3200" dirty="0">
                <a:solidFill>
                  <a:srgbClr val="1A1A1A"/>
                </a:solidFill>
                <a:latin typeface="Times New Roman"/>
              </a:rPr>
              <a:t>•  Bushnell, J. B., </a:t>
            </a:r>
            <a:r>
              <a:rPr lang="en-US" sz="3200" dirty="0" err="1">
                <a:solidFill>
                  <a:srgbClr val="1A1A1A"/>
                </a:solidFill>
                <a:latin typeface="Times New Roman"/>
              </a:rPr>
              <a:t>Muehlegger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, E., &amp; Rapson, D. S. (2022). Energy prices and electric vehicle adoption (NBER Working Paper 29842).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lang="en-US" sz="3200" dirty="0">
                <a:solidFill>
                  <a:srgbClr val="1A1A1A"/>
                </a:solidFill>
                <a:latin typeface="Times New Roman"/>
              </a:rPr>
              <a:t>•  Van, K. (2025). Driving change: Assessing the impact of EV charging infrastructure on gasoline consumption across California counties.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340A0F-1D46-B85F-1558-B23DE9E519B9}"/>
              </a:ext>
            </a:extLst>
          </p:cNvPr>
          <p:cNvSpPr txBox="1"/>
          <p:nvPr/>
        </p:nvSpPr>
        <p:spPr>
          <a:xfrm>
            <a:off x="1265795" y="18214124"/>
            <a:ext cx="8773555" cy="13542169"/>
          </a:xfrm>
          <a:prstGeom prst="rect">
            <a:avLst/>
          </a:prstGeom>
          <a:noFill/>
          <a:ln w="1270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274320" tIns="274320" rIns="274320" bIns="274320" rtlCol="0">
            <a:sp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California county-year panel: 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58 counties, 2010–2025 (928 county-years) from the CEC, U.S. DOE AFDC, EPA AQS, Census ACS, and the state NEVI corridor GIS layer.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Treatment: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23 corridor (treated) counties vs. 35 off-corridor (control), onset 2023; a county is treated if an interstate corridor crosses it ≥ 5 km.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Two-way fixed-effects </a:t>
            </a:r>
            <a:r>
              <a:rPr lang="en-US" sz="3200" b="1" dirty="0" err="1">
                <a:solidFill>
                  <a:srgbClr val="1A1A1A"/>
                </a:solidFill>
                <a:latin typeface="Times New Roman"/>
              </a:rPr>
              <a:t>DiD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(county + year FE), controlling for log median household income and share driving alone; SEs clustered by county.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Distance-weighted </a:t>
            </a:r>
            <a:r>
              <a:rPr lang="en-US" sz="3200" b="1" dirty="0" err="1">
                <a:solidFill>
                  <a:srgbClr val="1A1A1A"/>
                </a:solidFill>
                <a:latin typeface="Times New Roman"/>
              </a:rPr>
              <a:t>DiD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weights each county by centroid distance to the corridor — an exponential-decay kernel (h = 50 km) and inverse-distance (1/d) — concentrating identification near the threshold; event studies trace dynamics.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Two outcomes: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log per-capita gasoline and median Air Quality Index (AQI):</a:t>
            </a:r>
          </a:p>
          <a:p>
            <a:endParaRPr lang="en-US" sz="3200" dirty="0">
              <a:solidFill>
                <a:srgbClr val="1A1A1A"/>
              </a:solidFill>
              <a:latin typeface="Times New Roman"/>
            </a:endParaRPr>
          </a:p>
          <a:p>
            <a:endParaRPr lang="en-US" sz="3200" dirty="0">
              <a:solidFill>
                <a:srgbClr val="1A1A1A"/>
              </a:solidFill>
              <a:latin typeface="Times New Roman"/>
            </a:endParaRPr>
          </a:p>
          <a:p>
            <a:endParaRPr lang="en-US" sz="3200" dirty="0">
              <a:solidFill>
                <a:srgbClr val="1A1A1A"/>
              </a:solidFill>
              <a:latin typeface="Times New Roman"/>
            </a:endParaRPr>
          </a:p>
          <a:p>
            <a:endParaRPr lang="en-US" sz="3200" dirty="0">
              <a:solidFill>
                <a:srgbClr val="1A1A1A"/>
              </a:solidFill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E1442-17FE-FC36-F707-40E0440767C7}"/>
              </a:ext>
            </a:extLst>
          </p:cNvPr>
          <p:cNvSpPr txBox="1"/>
          <p:nvPr/>
        </p:nvSpPr>
        <p:spPr>
          <a:xfrm>
            <a:off x="10592675" y="6034090"/>
            <a:ext cx="30614319" cy="26284118"/>
          </a:xfrm>
          <a:prstGeom prst="rect">
            <a:avLst/>
          </a:prstGeom>
          <a:noFill/>
          <a:ln w="1270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274320" tIns="274320" rIns="274320" bIns="274320" rtlCol="0">
            <a:sp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EAE14F-C8AB-F208-12F9-BE5490A4D22C}"/>
              </a:ext>
            </a:extLst>
          </p:cNvPr>
          <p:cNvSpPr txBox="1"/>
          <p:nvPr/>
        </p:nvSpPr>
        <p:spPr>
          <a:xfrm>
            <a:off x="41719499" y="6036470"/>
            <a:ext cx="8772525" cy="9602629"/>
          </a:xfrm>
          <a:prstGeom prst="rect">
            <a:avLst/>
          </a:prstGeom>
          <a:noFill/>
          <a:ln w="1270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274320" tIns="274320" rIns="274320" bIns="274320" rtlCol="0">
            <a:spAutoFit/>
          </a:bodyPr>
          <a:lstStyle/>
          <a:p>
            <a:pPr algn="ctr"/>
            <a:r>
              <a:rPr lang="en-US" sz="4400" dirty="0">
                <a:latin typeface="Arial"/>
                <a:cs typeface="Arial"/>
              </a:rPr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1A1A"/>
                </a:solidFill>
                <a:latin typeface="Times New Roman"/>
              </a:rPr>
              <a:t>For gasoline the effect is </a:t>
            </a: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negative and grows stronger as weight concentrates on corridor-adjacent counties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(−0.048 → −0.089), with an event-study estimate of </a:t>
            </a: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≈ −0.17 by 2024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1A1A"/>
                </a:solidFill>
                <a:latin typeface="Times New Roman"/>
              </a:rPr>
              <a:t>This is </a:t>
            </a: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suggestive evidence that fuel displacement is concentrated near the state-built charging corridors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— where a proximity mechanism predicts — while stopping short of conventional significance.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Median AQI shows no detectable corridor effect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over this short window.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1A1A"/>
                </a:solidFill>
                <a:latin typeface="Times New Roman"/>
              </a:rPr>
              <a:t>Main limitation: a </a:t>
            </a:r>
            <a:r>
              <a:rPr lang="en-US" sz="3200" b="1" dirty="0">
                <a:solidFill>
                  <a:srgbClr val="1A1A1A"/>
                </a:solidFill>
                <a:latin typeface="Times New Roman"/>
              </a:rPr>
              <a:t>short post-treatment window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(gasoline observed only through 2024), so estimates are directional. Next steps: continuous-dose / staggered </a:t>
            </a:r>
            <a:r>
              <a:rPr lang="en-US" sz="3200" dirty="0" err="1">
                <a:solidFill>
                  <a:srgbClr val="1A1A1A"/>
                </a:solidFill>
                <a:latin typeface="Times New Roman"/>
              </a:rPr>
              <a:t>DiD</a:t>
            </a:r>
            <a:r>
              <a:rPr lang="en-US" sz="3200" dirty="0">
                <a:solidFill>
                  <a:srgbClr val="1A1A1A"/>
                </a:solidFill>
                <a:latin typeface="Times New Roman"/>
              </a:rPr>
              <a:t> and causal machine learning as more post-2023 data are collected.</a:t>
            </a:r>
          </a:p>
        </p:txBody>
      </p:sp>
      <p:pic>
        <p:nvPicPr>
          <p:cNvPr id="8" name="Picture 7" descr="eq_model.png">
            <a:extLst>
              <a:ext uri="{FF2B5EF4-FFF2-40B4-BE49-F238E27FC236}">
                <a16:creationId xmlns:a16="http://schemas.microsoft.com/office/drawing/2014/main" id="{EEE2969D-8FEA-32D3-5CFE-98D5FFB47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71" y="29194979"/>
            <a:ext cx="9326880" cy="2650797"/>
          </a:xfrm>
          <a:prstGeom prst="rect">
            <a:avLst/>
          </a:prstGeom>
        </p:spPr>
      </p:pic>
      <p:pic>
        <p:nvPicPr>
          <p:cNvPr id="13" name="Picture 12" descr="fig_distance_rings.png">
            <a:extLst>
              <a:ext uri="{FF2B5EF4-FFF2-40B4-BE49-F238E27FC236}">
                <a16:creationId xmlns:a16="http://schemas.microsoft.com/office/drawing/2014/main" id="{2CD26BC5-CB71-80F5-EEB2-4BD7E7813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6398" y="7163837"/>
            <a:ext cx="15623581" cy="892776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66F58B8-DE9C-5537-D25B-861FAA8DB190}"/>
              </a:ext>
            </a:extLst>
          </p:cNvPr>
          <p:cNvSpPr txBox="1"/>
          <p:nvPr/>
        </p:nvSpPr>
        <p:spPr>
          <a:xfrm>
            <a:off x="13982566" y="16229868"/>
            <a:ext cx="237926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1A1A1A"/>
                </a:solidFill>
                <a:latin typeface="Times New Roman"/>
              </a:rPr>
              <a:t>Figure 1: Treated versus control counties by distance to the NEVI interstate corridor (left) and the distribution of county-centroid distances (right).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2872EA9-AF19-2654-D71C-8CA7AADCB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1865" y="17221343"/>
            <a:ext cx="15824176" cy="5202797"/>
          </a:xfrm>
          <a:prstGeom prst="rect">
            <a:avLst/>
          </a:prstGeom>
        </p:spPr>
      </p:pic>
      <p:pic>
        <p:nvPicPr>
          <p:cNvPr id="38" name="Picture 37" descr="fig_weight_scheme_comparison.png">
            <a:extLst>
              <a:ext uri="{FF2B5EF4-FFF2-40B4-BE49-F238E27FC236}">
                <a16:creationId xmlns:a16="http://schemas.microsoft.com/office/drawing/2014/main" id="{E837089E-EC82-1E04-AF8C-791E72BB4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8365" y="17191098"/>
            <a:ext cx="13585170" cy="503965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16E16F0-2152-255C-32B7-37F5DC519319}"/>
              </a:ext>
            </a:extLst>
          </p:cNvPr>
          <p:cNvSpPr txBox="1"/>
          <p:nvPr/>
        </p:nvSpPr>
        <p:spPr>
          <a:xfrm>
            <a:off x="13665111" y="22454386"/>
            <a:ext cx="110476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1A1A1A"/>
                </a:solidFill>
                <a:latin typeface="Times New Roman"/>
              </a:rPr>
              <a:t>Figure 2: Baseline TWFE </a:t>
            </a:r>
            <a:r>
              <a:rPr sz="2200" b="0" dirty="0" err="1">
                <a:solidFill>
                  <a:srgbClr val="1A1A1A"/>
                </a:solidFill>
                <a:latin typeface="Times New Roman"/>
              </a:rPr>
              <a:t>DiD</a:t>
            </a:r>
            <a:r>
              <a:rPr sz="2200" b="0" dirty="0">
                <a:solidFill>
                  <a:srgbClr val="1A1A1A"/>
                </a:solidFill>
                <a:latin typeface="Times New Roman"/>
              </a:rPr>
              <a:t> estimate (left) and raw treated-vs-control gasoline trend (right).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C823B6-F09F-5754-86B0-75436232CA16}"/>
              </a:ext>
            </a:extLst>
          </p:cNvPr>
          <p:cNvSpPr txBox="1"/>
          <p:nvPr/>
        </p:nvSpPr>
        <p:spPr>
          <a:xfrm>
            <a:off x="28627166" y="22424140"/>
            <a:ext cx="107935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1A1A1A"/>
                </a:solidFill>
                <a:latin typeface="Times New Roman"/>
              </a:rPr>
              <a:t>Figure 3: </a:t>
            </a:r>
            <a:r>
              <a:rPr sz="2200" b="0" dirty="0" err="1">
                <a:solidFill>
                  <a:srgbClr val="1A1A1A"/>
                </a:solidFill>
                <a:latin typeface="Times New Roman"/>
              </a:rPr>
              <a:t>DiD</a:t>
            </a:r>
            <a:r>
              <a:rPr sz="2200" b="0" dirty="0">
                <a:solidFill>
                  <a:srgbClr val="1A1A1A"/>
                </a:solidFill>
                <a:latin typeface="Times New Roman"/>
              </a:rPr>
              <a:t> under unweighted, inverse-distance, and exponential (h = 50 km) weighting.</a:t>
            </a:r>
          </a:p>
        </p:txBody>
      </p:sp>
      <p:pic>
        <p:nvPicPr>
          <p:cNvPr id="44" name="Picture 43" descr="fig_invdist_event_study.png">
            <a:extLst>
              <a:ext uri="{FF2B5EF4-FFF2-40B4-BE49-F238E27FC236}">
                <a16:creationId xmlns:a16="http://schemas.microsoft.com/office/drawing/2014/main" id="{05087777-0FE4-C398-D237-EAE88CA56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672" y="24032585"/>
            <a:ext cx="15374794" cy="587037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D60A54E-4AA2-C897-75C8-827618F625CA}"/>
              </a:ext>
            </a:extLst>
          </p:cNvPr>
          <p:cNvSpPr txBox="1"/>
          <p:nvPr/>
        </p:nvSpPr>
        <p:spPr>
          <a:xfrm>
            <a:off x="13322441" y="30386074"/>
            <a:ext cx="116630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1A1A1A"/>
                </a:solidFill>
                <a:latin typeface="Times New Roman"/>
              </a:rPr>
              <a:t>Figure 4: Inverse-distance-weighted </a:t>
            </a:r>
            <a:r>
              <a:rPr sz="2200" b="0" dirty="0" err="1">
                <a:solidFill>
                  <a:srgbClr val="1A1A1A"/>
                </a:solidFill>
                <a:latin typeface="Times New Roman"/>
              </a:rPr>
              <a:t>DiD</a:t>
            </a:r>
            <a:r>
              <a:rPr sz="2200" b="0" dirty="0">
                <a:solidFill>
                  <a:srgbClr val="1A1A1A"/>
                </a:solidFill>
                <a:latin typeface="Times New Roman"/>
              </a:rPr>
              <a:t> event study (reference 2022, onset 2023).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629B1C-E979-0E29-3A49-9630E637065E}"/>
              </a:ext>
            </a:extLst>
          </p:cNvPr>
          <p:cNvSpPr txBox="1"/>
          <p:nvPr/>
        </p:nvSpPr>
        <p:spPr>
          <a:xfrm>
            <a:off x="28190348" y="24032585"/>
            <a:ext cx="11681204" cy="7306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0" dirty="0">
                <a:solidFill>
                  <a:srgbClr val="000000"/>
                </a:solidFill>
                <a:latin typeface="Arial"/>
              </a:rPr>
              <a:t>Key Findings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800" b="0" dirty="0">
                <a:solidFill>
                  <a:srgbClr val="1A1A1A"/>
                </a:solidFill>
                <a:latin typeface="Times New Roman"/>
              </a:rPr>
              <a:t>•  Baseline </a:t>
            </a:r>
            <a:r>
              <a:rPr sz="2800" b="0" dirty="0" err="1">
                <a:solidFill>
                  <a:srgbClr val="1A1A1A"/>
                </a:solidFill>
                <a:latin typeface="Times New Roman"/>
              </a:rPr>
              <a:t>DiD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 on log gasoline is </a:t>
            </a:r>
            <a:r>
              <a:rPr sz="2800" b="1" dirty="0">
                <a:solidFill>
                  <a:srgbClr val="1A1A1A"/>
                </a:solidFill>
                <a:latin typeface="Times New Roman"/>
              </a:rPr>
              <a:t>−0.048 (p = 0.24)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; tilting weight toward corridor-adjacent counties makes it progressively more negative — </a:t>
            </a:r>
            <a:r>
              <a:rPr sz="2800" b="1" dirty="0">
                <a:solidFill>
                  <a:srgbClr val="1A1A1A"/>
                </a:solidFill>
                <a:latin typeface="Times New Roman"/>
              </a:rPr>
              <a:t>−0.064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 (exponential, h = 50 km) and </a:t>
            </a:r>
            <a:r>
              <a:rPr sz="2800" b="1" dirty="0">
                <a:solidFill>
                  <a:srgbClr val="1A1A1A"/>
                </a:solidFill>
                <a:latin typeface="Times New Roman"/>
              </a:rPr>
              <a:t>−0.089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 (inverse-distance, p = 0.10), roughly double the unweighted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800" b="0" dirty="0">
                <a:solidFill>
                  <a:srgbClr val="1A1A1A"/>
                </a:solidFill>
                <a:latin typeface="Times New Roman"/>
              </a:rPr>
              <a:t>•  </a:t>
            </a:r>
            <a:r>
              <a:rPr sz="2800" b="1" dirty="0">
                <a:solidFill>
                  <a:srgbClr val="1A1A1A"/>
                </a:solidFill>
                <a:latin typeface="Times New Roman"/>
              </a:rPr>
              <a:t>Bandwidth surface: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 the gasoline effect strengthens smoothly from −0.048 (h = 250 km) to </a:t>
            </a:r>
            <a:r>
              <a:rPr sz="2800" b="1" dirty="0">
                <a:solidFill>
                  <a:srgbClr val="1A1A1A"/>
                </a:solidFill>
                <a:latin typeface="Times New Roman"/>
              </a:rPr>
              <a:t>−0.130 (h = 15 km)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 — the more identification concentrates on corridor-adjacent counties, the larger the estimated fuel reduction.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800" b="0" dirty="0">
                <a:solidFill>
                  <a:srgbClr val="1A1A1A"/>
                </a:solidFill>
                <a:latin typeface="Times New Roman"/>
              </a:rPr>
              <a:t>•  </a:t>
            </a:r>
            <a:r>
              <a:rPr sz="2800" b="1" dirty="0">
                <a:solidFill>
                  <a:srgbClr val="1A1A1A"/>
                </a:solidFill>
                <a:latin typeface="Times New Roman"/>
              </a:rPr>
              <a:t>Event study: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 flat, near-zero pre-trends, then the gasoline effect turns negative after the 2023 onset and reaches </a:t>
            </a:r>
            <a:r>
              <a:rPr sz="2800" b="1" dirty="0">
                <a:solidFill>
                  <a:srgbClr val="1A1A1A"/>
                </a:solidFill>
                <a:latin typeface="Times New Roman"/>
              </a:rPr>
              <a:t>−0.17 by 2024 (p = 0.055)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800" b="0" dirty="0">
                <a:solidFill>
                  <a:srgbClr val="1A1A1A"/>
                </a:solidFill>
                <a:latin typeface="Times New Roman"/>
              </a:rPr>
              <a:t>•  </a:t>
            </a:r>
            <a:r>
              <a:rPr sz="2800" b="1" dirty="0">
                <a:solidFill>
                  <a:srgbClr val="1A1A1A"/>
                </a:solidFill>
                <a:latin typeface="Times New Roman"/>
              </a:rPr>
              <a:t>No control county lies within 25 km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 of the corridor; treated counties (mean ≈ 17 km) are separated from the nearest controls by a visible gap — exactly the spatial structure distance weighting exploits.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800" b="0" dirty="0">
                <a:solidFill>
                  <a:srgbClr val="1A1A1A"/>
                </a:solidFill>
                <a:latin typeface="Times New Roman"/>
              </a:rPr>
              <a:t>•  </a:t>
            </a:r>
            <a:r>
              <a:rPr sz="2800" b="1" dirty="0">
                <a:solidFill>
                  <a:srgbClr val="1A1A1A"/>
                </a:solidFill>
                <a:latin typeface="Times New Roman"/>
              </a:rPr>
              <a:t>Median AQI shows no detectable effect</a:t>
            </a:r>
            <a:r>
              <a:rPr sz="2800" b="0" dirty="0">
                <a:solidFill>
                  <a:srgbClr val="1A1A1A"/>
                </a:solidFill>
                <a:latin typeface="Times New Roman"/>
              </a:rPr>
              <a:t> under any weighting scheme over this short window.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7258</TotalTime>
  <Words>846</Words>
  <Application>Microsoft Office PowerPoint</Application>
  <PresentationFormat>Custom</PresentationFormat>
  <Paragraphs>82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Denison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macadmin</dc:creator>
  <cp:lastModifiedBy>Khoi Van</cp:lastModifiedBy>
  <cp:revision>35</cp:revision>
  <cp:lastPrinted>2012-07-10T19:04:34Z</cp:lastPrinted>
  <dcterms:created xsi:type="dcterms:W3CDTF">2013-07-03T01:43:19Z</dcterms:created>
  <dcterms:modified xsi:type="dcterms:W3CDTF">2026-07-19T04:33:17Z</dcterms:modified>
</cp:coreProperties>
</file>